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ITC Avant Garde Gothic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4A62"/>
    <a:srgbClr val="728494"/>
    <a:srgbClr val="4F67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4684" autoAdjust="0"/>
  </p:normalViewPr>
  <p:slideViewPr>
    <p:cSldViewPr>
      <p:cViewPr>
        <p:scale>
          <a:sx n="50" d="100"/>
          <a:sy n="50" d="100"/>
        </p:scale>
        <p:origin x="994" y="1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6C39D-E95B-434A-A829-B7F1B52E614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25469-8FD4-4DD9-A1D9-068E986AB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0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E25469-8FD4-4DD9-A1D9-068E986AB7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77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588169"/>
            <a:ext cx="9763125" cy="3531593"/>
            <a:chOff x="0" y="-104775"/>
            <a:chExt cx="13017500" cy="4708791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3419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 dirty="0">
                  <a:solidFill>
                    <a:srgbClr val="2E4A62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Thermal Image Detection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577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dirty="0">
                  <a:solidFill>
                    <a:srgbClr val="7CA1B4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AL-</a:t>
              </a:r>
              <a:r>
                <a:rPr lang="en-US" sz="2600" dirty="0" err="1">
                  <a:solidFill>
                    <a:srgbClr val="7CA1B4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Farabi</a:t>
              </a:r>
              <a:r>
                <a:rPr lang="en-US" sz="2600" dirty="0">
                  <a:solidFill>
                    <a:srgbClr val="7CA1B4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 University 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2400" y="8343900"/>
            <a:ext cx="7270851" cy="1369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dirty="0">
                <a:solidFill>
                  <a:srgbClr val="2E4A62"/>
                </a:solidFill>
                <a:latin typeface="Times New Roman" panose="02020603050405020304" pitchFamily="18" charset="0"/>
                <a:ea typeface="TT Fors"/>
                <a:cs typeface="Times New Roman" panose="02020603050405020304" pitchFamily="18" charset="0"/>
                <a:sym typeface="TT Fors"/>
              </a:rPr>
              <a:t>Presented by [LAITH FAEEQ KHALEL]</a:t>
            </a:r>
          </a:p>
          <a:p>
            <a:pPr lvl="0">
              <a:lnSpc>
                <a:spcPts val="3640"/>
              </a:lnSpc>
            </a:pPr>
            <a:r>
              <a:rPr lang="en-US" sz="2600" dirty="0">
                <a:solidFill>
                  <a:srgbClr val="2E4A62"/>
                </a:solidFill>
                <a:latin typeface="Times New Roman" panose="02020603050405020304" pitchFamily="18" charset="0"/>
                <a:ea typeface="TT Fors"/>
                <a:cs typeface="Times New Roman" panose="02020603050405020304" pitchFamily="18" charset="0"/>
                <a:sym typeface="TT Fors"/>
              </a:rPr>
              <a:t>Supervised by: </a:t>
            </a:r>
            <a:r>
              <a:rPr lang="en-US" sz="2800" dirty="0">
                <a:solidFill>
                  <a:srgbClr val="4F6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[Al-</a:t>
            </a:r>
            <a:r>
              <a:rPr lang="en-US" sz="2800" dirty="0" err="1">
                <a:solidFill>
                  <a:srgbClr val="4F6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Munther</a:t>
            </a:r>
            <a:r>
              <a:rPr lang="en-US" sz="2800" dirty="0">
                <a:solidFill>
                  <a:srgbClr val="4F6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Mahmoud] </a:t>
            </a:r>
            <a:endParaRPr lang="en-US" sz="2600" dirty="0">
              <a:solidFill>
                <a:srgbClr val="4F677B"/>
              </a:solidFill>
              <a:latin typeface="Times New Roman" panose="02020603050405020304" pitchFamily="18" charset="0"/>
              <a:ea typeface="TT Fors"/>
              <a:cs typeface="Times New Roman" panose="02020603050405020304" pitchFamily="18" charset="0"/>
              <a:sym typeface="TT Fors"/>
            </a:endParaRPr>
          </a:p>
          <a:p>
            <a:pPr lvl="0">
              <a:lnSpc>
                <a:spcPts val="3640"/>
              </a:lnSpc>
            </a:pPr>
            <a:r>
              <a:rPr lang="en-US" sz="2600" dirty="0">
                <a:solidFill>
                  <a:srgbClr val="2E4A62"/>
                </a:solidFill>
                <a:latin typeface="Times New Roman" panose="02020603050405020304" pitchFamily="18" charset="0"/>
                <a:ea typeface="TT Fors"/>
                <a:cs typeface="Times New Roman" panose="02020603050405020304" pitchFamily="18" charset="0"/>
                <a:sym typeface="TT Fors"/>
              </a:rPr>
              <a:t> Course :Artificial Intelligence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44000" y="7632715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659606"/>
            <a:ext cx="11201400" cy="205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 dirty="0">
                <a:solidFill>
                  <a:srgbClr val="2E4A62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Introduction to Thermal Imaging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441357" y="7807040"/>
            <a:ext cx="4846643" cy="1791955"/>
            <a:chOff x="0" y="0"/>
            <a:chExt cx="6462190" cy="23892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D7761F8-CDA4-42ED-B7FA-48DD67F976AC}"/>
              </a:ext>
            </a:extLst>
          </p:cNvPr>
          <p:cNvSpPr/>
          <p:nvPr/>
        </p:nvSpPr>
        <p:spPr>
          <a:xfrm>
            <a:off x="666750" y="4543335"/>
            <a:ext cx="9144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CDA13F-3F83-4A39-9B0F-825E9AF9149F}"/>
              </a:ext>
            </a:extLst>
          </p:cNvPr>
          <p:cNvSpPr/>
          <p:nvPr/>
        </p:nvSpPr>
        <p:spPr>
          <a:xfrm>
            <a:off x="666750" y="3481506"/>
            <a:ext cx="9144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sz="24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Thermal imaging captures infrared radiation instead of visible light.</a:t>
            </a:r>
            <a:br>
              <a:rPr lang="en-US" sz="24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detection of heat signatures in low-light or dark environments.</a:t>
            </a:r>
            <a:br>
              <a:rPr lang="en-US" sz="24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It is widely used in surveillance, security, and rescue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59606"/>
            <a:ext cx="11201400" cy="3664677"/>
            <a:chOff x="0" y="-9525"/>
            <a:chExt cx="14935200" cy="4886236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0" cy="1367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 dirty="0">
                  <a:solidFill>
                    <a:srgbClr val="2E4A62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Challenges in Detection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428964"/>
              <a:ext cx="11099800" cy="14477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Detecting humans in thermal images poses significant challenges due to a </a:t>
              </a:r>
              <a:r>
                <a:rPr lang="en-US" sz="2100" b="1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 Bold"/>
                  <a:cs typeface="Times New Roman" panose="02020603050405020304" pitchFamily="18" charset="0"/>
                  <a:sym typeface="TT Fors Bold"/>
                </a:rPr>
                <a:t>lack of visible features</a:t>
              </a:r>
              <a:r>
                <a:rPr lang="en-US" sz="2100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, making it difficult to differentiate them from the background and impacting overall detection accuracy.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235200"/>
              <a:ext cx="130175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 dirty="0">
                  <a:solidFill>
                    <a:srgbClr val="7CA1B4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Issues with Thermal Imaging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258800" y="8039100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59606"/>
            <a:ext cx="6886575" cy="4513163"/>
            <a:chOff x="0" y="-9525"/>
            <a:chExt cx="9182100" cy="6017551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735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 dirty="0">
                  <a:solidFill>
                    <a:srgbClr val="2E4A62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YOLOv8 Model Comparison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08525"/>
              <a:ext cx="9182100" cy="1299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 dirty="0">
                  <a:solidFill>
                    <a:srgbClr val="7CA1B4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Evaluating Performance Variations Between Two YOLOv8 Models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1483519"/>
            <a:ext cx="6886575" cy="2035016"/>
            <a:chOff x="0" y="-104775"/>
            <a:chExt cx="9182100" cy="2713355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The YOLOv8n model is a smaller, faster option that provides quicker inference times but may sacrifice some accuracy in detection.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565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 dirty="0">
                  <a:solidFill>
                    <a:srgbClr val="2E4A62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YOLOv8n Model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169569"/>
            <a:ext cx="6886575" cy="2035016"/>
            <a:chOff x="0" y="-104775"/>
            <a:chExt cx="9182100" cy="2713355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The YOLOv8s model is larger and more accurate but has slower inference speeds, making it less suitable for real-time applications.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9182100" cy="565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 dirty="0">
                  <a:solidFill>
                    <a:srgbClr val="2E4A62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YOLOv8s Model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859429"/>
            <a:ext cx="6886575" cy="2035016"/>
            <a:chOff x="0" y="-104775"/>
            <a:chExt cx="9182100" cy="2713355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Balancing speed and accuracy is crucial. The choice between YOLOv8n and YOLOv8s depends on specific application needs and resource availability.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9182100" cy="565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 dirty="0">
                  <a:solidFill>
                    <a:srgbClr val="2E4A62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Performance Balance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7916227"/>
            <a:ext cx="4846643" cy="1791955"/>
            <a:chOff x="0" y="0"/>
            <a:chExt cx="6462190" cy="23892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5516225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 dirty="0">
                <a:solidFill>
                  <a:srgbClr val="2E4A62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rPr>
              <a:t>Methodology Workflow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91600" y="4878708"/>
            <a:ext cx="6886575" cy="1869334"/>
            <a:chOff x="0" y="-104775"/>
            <a:chExt cx="9182100" cy="2492446"/>
          </a:xfrm>
        </p:grpSpPr>
        <p:sp>
          <p:nvSpPr>
            <p:cNvPr id="4" name="TextBox 4"/>
            <p:cNvSpPr txBox="1"/>
            <p:nvPr/>
          </p:nvSpPr>
          <p:spPr>
            <a:xfrm>
              <a:off x="0" y="934791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Systematically record total detection counts at each threshold level, facilitating comparison and analysis of detection accuracy.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9182100" cy="565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 dirty="0">
                  <a:solidFill>
                    <a:srgbClr val="7CA1B4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Record Detections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49" y="7556685"/>
            <a:ext cx="6886575" cy="1493587"/>
            <a:chOff x="0" y="-104775"/>
            <a:chExt cx="9182100" cy="1991450"/>
          </a:xfrm>
        </p:grpSpPr>
        <p:sp>
          <p:nvSpPr>
            <p:cNvPr id="7" name="TextBox 7"/>
            <p:cNvSpPr txBox="1"/>
            <p:nvPr/>
          </p:nvSpPr>
          <p:spPr>
            <a:xfrm>
              <a:off x="0" y="934791"/>
              <a:ext cx="9182100" cy="951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Focus detection on the "person" class to enhance accuracy and reduce false positives during analysis of thermal data.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9182100" cy="565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 dirty="0">
                  <a:solidFill>
                    <a:srgbClr val="7CA1B4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Detect Persons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2378869"/>
            <a:ext cx="6886575" cy="1493587"/>
            <a:chOff x="0" y="-104775"/>
            <a:chExt cx="9182100" cy="199145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34791"/>
              <a:ext cx="9182100" cy="951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Begin by loading the pre-trained YOLOv8 model necessary for detecting human presence in thermal images efficiently.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9182100" cy="565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 dirty="0">
                  <a:solidFill>
                    <a:srgbClr val="7CA1B4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Load Model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7750969"/>
            <a:ext cx="6886575" cy="1869334"/>
            <a:chOff x="0" y="-104775"/>
            <a:chExt cx="9182100" cy="249244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34791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Analyze the results to identify trends in detection counts relative to the confidence thresholds, aiding in model tuning decisions.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9182100" cy="565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 dirty="0">
                  <a:solidFill>
                    <a:srgbClr val="7CA1B4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Analyze Results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91600" y="2300288"/>
            <a:ext cx="6886575" cy="1869334"/>
            <a:chOff x="0" y="-104775"/>
            <a:chExt cx="9182100" cy="2492446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34791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Experiment with various confidence thresholds, specifically 0.15, 0.25, and 0.50, to determine optimal detection performance.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9182100" cy="565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 dirty="0">
                  <a:solidFill>
                    <a:srgbClr val="7CA1B4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Test Thresholds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6749" y="4831292"/>
            <a:ext cx="6886575" cy="1493587"/>
            <a:chOff x="0" y="-104775"/>
            <a:chExt cx="9182100" cy="199145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934791"/>
              <a:ext cx="9182100" cy="951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Input a series of thermal images into the model for analysis, ensuring proper formatting for optimal processing.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9182100" cy="565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 dirty="0">
                  <a:solidFill>
                    <a:srgbClr val="7CA1B4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Input Images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3299" y="1562100"/>
            <a:ext cx="11201400" cy="4078837"/>
            <a:chOff x="0" y="-9525"/>
            <a:chExt cx="14935200" cy="5438449"/>
          </a:xfrm>
        </p:grpSpPr>
        <p:sp>
          <p:nvSpPr>
            <p:cNvPr id="3" name="TextBox 3"/>
            <p:cNvSpPr txBox="1"/>
            <p:nvPr/>
          </p:nvSpPr>
          <p:spPr>
            <a:xfrm>
              <a:off x="0" y="3707341"/>
              <a:ext cx="14935200" cy="547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00"/>
                </a:lnSpc>
                <a:spcBef>
                  <a:spcPct val="0"/>
                </a:spcBef>
              </a:pPr>
              <a:r>
                <a:rPr lang="en-US" sz="3200" u="none" strike="noStrike" spc="-96" dirty="0">
                  <a:solidFill>
                    <a:srgbClr val="7CA1B4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Highest detection count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863041"/>
              <a:ext cx="14935200" cy="565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 lang="en-US" sz="2600" u="none" strike="noStrike" dirty="0">
                <a:solidFill>
                  <a:srgbClr val="2E4A62"/>
                </a:solidFill>
                <a:latin typeface="Times New Roman" panose="02020603050405020304" pitchFamily="18" charset="0"/>
                <a:ea typeface="TT Fors"/>
                <a:cs typeface="Times New Roman" panose="02020603050405020304" pitchFamily="18" charset="0"/>
                <a:sym typeface="TT For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4935200" cy="3436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999"/>
                </a:lnSpc>
                <a:spcBef>
                  <a:spcPct val="0"/>
                </a:spcBef>
              </a:pPr>
              <a:r>
                <a:rPr lang="en-US" sz="9999" u="none" strike="noStrike" spc="-299" dirty="0">
                  <a:solidFill>
                    <a:srgbClr val="2E4A62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Confidence at</a:t>
              </a:r>
              <a:endParaRPr lang="ar-IQ" sz="9999" u="none" strike="noStrike" spc="-299" dirty="0">
                <a:solidFill>
                  <a:srgbClr val="2E4A62"/>
                </a:solidFill>
                <a:latin typeface="Times New Roman" panose="02020603050405020304" pitchFamily="18" charset="0"/>
                <a:ea typeface="ITC Avant Garde Gothic"/>
                <a:cs typeface="Times New Roman" panose="02020603050405020304" pitchFamily="18" charset="0"/>
                <a:sym typeface="ITC Avant Garde Gothic"/>
              </a:endParaRPr>
            </a:p>
            <a:p>
              <a:pPr marL="0" lvl="0" indent="0" algn="ctr">
                <a:lnSpc>
                  <a:spcPts val="9999"/>
                </a:lnSpc>
                <a:spcBef>
                  <a:spcPct val="0"/>
                </a:spcBef>
              </a:pPr>
              <a:r>
                <a:rPr lang="en-US" sz="9999" u="none" strike="noStrike" spc="-299" dirty="0">
                  <a:solidFill>
                    <a:srgbClr val="2E4A62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 0.15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48853" y="542196"/>
            <a:ext cx="2190291" cy="809819"/>
            <a:chOff x="0" y="0"/>
            <a:chExt cx="2920388" cy="10797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FC8C428-8C53-4974-8B80-E30B5E3D4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020" y="6369347"/>
            <a:ext cx="4971955" cy="333883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40C10FD-E465-4C8B-8767-F0BDAE695FA0}"/>
              </a:ext>
            </a:extLst>
          </p:cNvPr>
          <p:cNvSpPr/>
          <p:nvPr/>
        </p:nvSpPr>
        <p:spPr>
          <a:xfrm>
            <a:off x="4572000" y="4681835"/>
            <a:ext cx="9144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pPr algn="ctr"/>
            <a:r>
              <a:rPr lang="en-US" sz="28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Highest detection count observed at confidence 0.15</a:t>
            </a:r>
            <a:br>
              <a:rPr lang="en-US" sz="28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Lower threshold increases detection sensitivity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59606"/>
            <a:ext cx="11201400" cy="2169319"/>
            <a:chOff x="0" y="-9525"/>
            <a:chExt cx="14935200" cy="2892425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0" cy="1367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 dirty="0">
                  <a:solidFill>
                    <a:srgbClr val="2E4A62"/>
                  </a:solidFill>
                  <a:latin typeface="Times New Roman" panose="02020603050405020304" pitchFamily="18" charset="0"/>
                  <a:ea typeface="ITC Avant Garde Gothic"/>
                  <a:cs typeface="Times New Roman" panose="02020603050405020304" pitchFamily="18" charset="0"/>
                  <a:sym typeface="ITC Avant Garde Gothic"/>
                </a:rPr>
                <a:t>Final Model Selection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235200"/>
              <a:ext cx="130175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 dirty="0">
                  <a:solidFill>
                    <a:srgbClr val="2E4A62"/>
                  </a:solidFill>
                  <a:latin typeface="Times New Roman" panose="02020603050405020304" pitchFamily="18" charset="0"/>
                  <a:ea typeface="TT Fors"/>
                  <a:cs typeface="Times New Roman" panose="02020603050405020304" pitchFamily="18" charset="0"/>
                  <a:sym typeface="TT Fors"/>
                </a:rPr>
                <a:t>Choosing YOLOv8n for Efficiency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258800" y="8191500"/>
            <a:ext cx="4846643" cy="1791955"/>
            <a:chOff x="0" y="0"/>
            <a:chExt cx="6462190" cy="23892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CADF4E7-92A4-4DD8-BE51-BF22B6D1F73F}"/>
              </a:ext>
            </a:extLst>
          </p:cNvPr>
          <p:cNvSpPr/>
          <p:nvPr/>
        </p:nvSpPr>
        <p:spPr>
          <a:xfrm>
            <a:off x="666750" y="3292475"/>
            <a:ext cx="9144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YOLOv8n was selected due to its balanced performance, lower computational cost, and faster processing speed.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75" y="0"/>
            <a:ext cx="7858125" cy="10287000"/>
            <a:chOff x="0" y="0"/>
            <a:chExt cx="1764443" cy="23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4443" cy="2309817"/>
            </a:xfrm>
            <a:custGeom>
              <a:avLst/>
              <a:gdLst/>
              <a:ahLst/>
              <a:cxnLst/>
              <a:rect l="l" t="t" r="r" b="b"/>
              <a:pathLst>
                <a:path w="1764443" h="2309817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t="-421" b="-42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59606"/>
            <a:ext cx="8324850" cy="3130501"/>
            <a:chOff x="0" y="-9525"/>
            <a:chExt cx="11099800" cy="4174001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8000" b="1" dirty="0">
                  <a:solidFill>
                    <a:srgbClr val="2E4A6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14725"/>
              <a:ext cx="11068284" cy="649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 lang="en-US" sz="3199" b="1" u="none" strike="noStrike" spc="-95" dirty="0">
                <a:solidFill>
                  <a:srgbClr val="2E4A62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7468" y="7807040"/>
            <a:ext cx="4846643" cy="1791955"/>
            <a:chOff x="0" y="0"/>
            <a:chExt cx="6462190" cy="2389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BECC3E1C-AD67-4FD5-AD0C-3891C653B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81CEDEE-7FF2-4B08-9B94-F9C198598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2670063"/>
            <a:ext cx="913743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E4A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Thermal imaging enables human detection in low-visibility conditions.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E4A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E4A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Detection performance varies with different confidence thresholds.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E4A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E4A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Lower thresholds increase detections but may introduce false positives.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E4A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E4A6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YOLOv8n achieved a good balance between speed and accuracy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4FD68A-19CF-45A0-B988-4665D1F83187}"/>
              </a:ext>
            </a:extLst>
          </p:cNvPr>
          <p:cNvSpPr/>
          <p:nvPr/>
        </p:nvSpPr>
        <p:spPr>
          <a:xfrm>
            <a:off x="5235469" y="7124700"/>
            <a:ext cx="9144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  <a:r>
              <a:rPr lang="ar-IQ" sz="32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200" dirty="0">
                <a:solidFill>
                  <a:srgbClr val="2E4A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rgbClr val="2E4A6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419</Words>
  <Application>Microsoft Office PowerPoint</Application>
  <PresentationFormat>Custom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ITC Avant Garde Gothic Bold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Thermal Image Detection</dc:title>
  <dc:creator>LAITH ALMARSOME</dc:creator>
  <dc:description>Presentation - Thermal Image Detection</dc:description>
  <cp:lastModifiedBy>LAITH ALMARSOME</cp:lastModifiedBy>
  <cp:revision>3</cp:revision>
  <dcterms:created xsi:type="dcterms:W3CDTF">2006-08-16T00:00:00Z</dcterms:created>
  <dcterms:modified xsi:type="dcterms:W3CDTF">2026-03-27T06:10:33Z</dcterms:modified>
  <dc:identifier>DAHFHIGZNn8</dc:identifier>
</cp:coreProperties>
</file>